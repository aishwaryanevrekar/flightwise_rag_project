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custom source manifest: data/airline_sources.csv
- Jio Institute Generative AI Assignment 3 brief (user-provided PDF)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In-Class Labs 1-6 supplied by the course instructor (user-provided notebooks)
- Project architecture is an adaptation of the class RAG, advanced RAG and LangGraph patterns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Jio Institute Generative AI Assignment 3 brief: AI usage disclosure and 3-slide structure (user-provided PDF)
- In-Class Labs 1-6 supplied by the course instructor (user-provided notebooks)
- Project evaluation file: evaluation/evaluation_questions.csv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- Assignment 3 | FlightWise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607040" y="652881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Jio Institute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" cy="347472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60120" y="320040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66760" y="3931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</a:rPr>
              <a:t>FlightWise: airline policy RAG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</a:rPr>
              <a:t>Passengers should not have to search multiple long policy pages during a travel disruption.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840480" cy="3154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019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F6FEB"/>
                </a:solidFill>
              </a:rPr>
              <a:t>THE PASSENGER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347472" cy="34747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9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682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3225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Flight cancelled / delayed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347472" cy="34747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9D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6265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9169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Baggage missing or damaged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520440"/>
            <a:ext cx="347472" cy="34747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9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570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511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Refund / rescheduling query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114800"/>
            <a:ext cx="347472" cy="347472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1D2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513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056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Rules differ by airline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76272" y="4572000"/>
            <a:ext cx="658368" cy="246888"/>
          </a:xfrm>
          <a:prstGeom prst="downArrow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919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FlightWise retrieves evidence first, then generates the answer.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73168" y="1700784"/>
            <a:ext cx="3182112" cy="1508760"/>
          </a:xfrm>
          <a:prstGeom prst="roundRect">
            <a:avLst>
              <a:gd name="adj" fmla="val 3636"/>
            </a:avLst>
          </a:prstGeom>
          <a:solidFill>
            <a:srgbClr val="EAF3F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8379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Passenger value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2167128"/>
            <a:ext cx="2852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Faster access to airline-specific baggage, cancellation, refund, check-in and disruption policies.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65592" y="1700784"/>
            <a:ext cx="3182112" cy="1508760"/>
          </a:xfrm>
          <a:prstGeom prst="roundRect">
            <a:avLst>
              <a:gd name="adj" fmla="val 3636"/>
            </a:avLst>
          </a:prstGeom>
          <a:solidFill>
            <a:srgbClr val="E8F7E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30184" y="18379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Support value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30184" y="2167128"/>
            <a:ext cx="2852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A reusable policy-search layer that can help support teams locate the relevant source before responding.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73168" y="3438144"/>
            <a:ext cx="3182112" cy="1508760"/>
          </a:xfrm>
          <a:prstGeom prst="roundRect">
            <a:avLst>
              <a:gd name="adj" fmla="val 3636"/>
            </a:avLst>
          </a:prstGeom>
          <a:solidFill>
            <a:srgbClr val="DDF6FA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57530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Grounded answers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904488"/>
            <a:ext cx="2852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Answers are generated only from retrieved context and include source document titles plus an information-gap flag.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65592" y="3438144"/>
            <a:ext cx="3182112" cy="1508760"/>
          </a:xfrm>
          <a:prstGeom prst="roundRect">
            <a:avLst>
              <a:gd name="adj" fmla="val 3636"/>
            </a:avLst>
          </a:prstGeom>
          <a:solidFill>
            <a:srgbClr val="FFF4D6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30184" y="357530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Custom dataset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0184" y="3904488"/>
            <a:ext cx="2852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36 curated official sources across 12 airlines + DGCA/MoCA, with airline/category metadata to reduce policy mixing.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73168" y="5230368"/>
            <a:ext cx="6574536" cy="621792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5422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Scope: cancellations • delays • refunds • baggage • check-in • special assistance • conditions of carriage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1005840" y="606247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</a:rPr>
              <a:t>Aishwarya Nevrekar  27PGAI0028   |   Deepanshi Bansal  27PGAI0110   |   Kushagra Gupta  27PGAI0115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" cy="347472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60120" y="320040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stack &amp; GenAI 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66760" y="3931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</a:rPr>
              <a:t>Built from In-Class Labs 1-6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70" kern="0" dirty="0">
                <a:solidFill>
                  <a:srgbClr val="1F6FEB"/>
                </a:solidFill>
              </a:rPr>
              <a:t>OFFLINE KNOWLEDGE-BASE BUILD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11155680" cy="1298448"/>
          </a:xfrm>
          <a:prstGeom prst="roundRect">
            <a:avLst/>
          </a:prstGeom>
          <a:solidFill>
            <a:srgbClr val="F1F6FC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81328"/>
            <a:ext cx="15087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9105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Official 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1865376"/>
            <a:ext cx="1362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12 airlines + DGCA/MoCA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578608" y="1481328"/>
            <a:ext cx="14173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5910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Load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1865376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WebBaseLoader / PDF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352544" y="1481328"/>
            <a:ext cx="1536192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159105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Split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25696" y="1865376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1000 chars / 200 overlap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254496" y="1481328"/>
            <a:ext cx="14173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5910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Embed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27648" y="1865376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OllamaEmbeddings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028432" y="1481328"/>
            <a:ext cx="14173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15910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Vector store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01584" y="1865376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Chroma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9802368" y="1481328"/>
            <a:ext cx="1481328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159105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Metadata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0" y="1865376"/>
            <a:ext cx="1335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airline • category • source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221992" y="1874520"/>
            <a:ext cx="301752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995928" y="1874520"/>
            <a:ext cx="301752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88736" y="1874520"/>
            <a:ext cx="310896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71816" y="1874520"/>
            <a:ext cx="301752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45752" y="1874520"/>
            <a:ext cx="301752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66928" y="2761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70" kern="0" dirty="0">
                <a:solidFill>
                  <a:srgbClr val="1F6FEB"/>
                </a:solidFill>
              </a:rPr>
              <a:t>ONLINE QUESTION-ANSWERING FLOW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3072384"/>
            <a:ext cx="111556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3175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" y="3419856"/>
            <a:ext cx="1325880" cy="114300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352958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8096" y="3803904"/>
            <a:ext cx="1179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airline + question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2340864" y="3419856"/>
            <a:ext cx="1353312" cy="1143000"/>
          </a:xfrm>
          <a:prstGeom prst="roundRect">
            <a:avLst/>
          </a:prstGeom>
          <a:solidFill>
            <a:srgbClr val="FFF4D6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52958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Filter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14016" y="3803904"/>
            <a:ext cx="1207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airline metadata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4023360" y="3246120"/>
            <a:ext cx="1325880" cy="713232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96512" y="335584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BM25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096512" y="363016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exact terms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023360" y="4160520"/>
            <a:ext cx="1325880" cy="713232"/>
          </a:xfrm>
          <a:prstGeom prst="roundRect">
            <a:avLst/>
          </a:prstGeom>
          <a:solidFill>
            <a:srgbClr val="DDF6FA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96512" y="427024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Vector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096512" y="454456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semantic search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5458968" y="3273552"/>
            <a:ext cx="237744" cy="1563624"/>
          </a:xfrm>
          <a:prstGeom prst="bracePair">
            <a:avLst/>
          </a:prstGeom>
          <a:solidFill>
            <a:srgbClr val="FFFFFF">
              <a:alpha val="0"/>
            </a:srgbClr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720" y="3419856"/>
            <a:ext cx="1417320" cy="114300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52958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Ensemble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833872" y="3803904"/>
            <a:ext cx="1271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hybrid retriever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7516368" y="3419856"/>
            <a:ext cx="1417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52958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Prompt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589520" y="3803904"/>
            <a:ext cx="1271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retrieved context only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9262872" y="3419856"/>
            <a:ext cx="1188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36024" y="352958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Groq LLM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36024" y="3803904"/>
            <a:ext cx="1042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class model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10716768" y="3419856"/>
            <a:ext cx="749808" cy="1143000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0" y="352958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B"/>
                </a:solidFill>
              </a:rPr>
              <a:t>Output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89920" y="3803904"/>
            <a:ext cx="6035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73"/>
                </a:solidFill>
              </a:rPr>
              <a:t>Pydantic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2020824" y="3986784"/>
            <a:ext cx="265176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694176" y="3986784"/>
            <a:ext cx="274320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678424" y="3986784"/>
            <a:ext cx="27432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178040" y="3986784"/>
            <a:ext cx="283464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933688" y="3986784"/>
            <a:ext cx="274320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0451592" y="3986784"/>
            <a:ext cx="210312" cy="0"/>
          </a:xfrm>
          <a:prstGeom prst="line">
            <a:avLst/>
          </a:prstGeom>
          <a:noFill/>
          <a:ln w="19050">
            <a:solidFill>
              <a:srgbClr val="8BA6C1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95528" y="4937760"/>
            <a:ext cx="10561320" cy="246888"/>
          </a:xfrm>
          <a:prstGeom prst="roundRect">
            <a:avLst/>
          </a:prstGeom>
          <a:solidFill>
            <a:srgbClr val="EEF5FF"/>
          </a:solidFill>
          <a:ln w="7620">
            <a:solidFill>
              <a:srgbClr val="BDD5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4400" y="4988052"/>
            <a:ext cx="10305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2355B"/>
                </a:solidFill>
              </a:rPr>
              <a:t>LangGraph final workflow: START → retrieve → generate → END</a:t>
            </a:r>
            <a:endParaRPr lang="en-US" sz="930" dirty="0"/>
          </a:p>
        </p:txBody>
      </p:sp>
      <p:sp>
        <p:nvSpPr>
          <p:cNvPr id="65" name="Text 63"/>
          <p:cNvSpPr/>
          <p:nvPr/>
        </p:nvSpPr>
        <p:spPr>
          <a:xfrm>
            <a:off x="566928" y="5513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</a:rPr>
              <a:t>Class concepts reused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14600" y="5431536"/>
            <a:ext cx="1389888" cy="438912"/>
          </a:xfrm>
          <a:prstGeom prst="roundRect">
            <a:avLst/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78608" y="5504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</a:rPr>
              <a:t>Lab 1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990088" y="549554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3"/>
                </a:solidFill>
              </a:rPr>
              <a:t>LLM parameters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3995928" y="5431536"/>
            <a:ext cx="1389888" cy="438912"/>
          </a:xfrm>
          <a:prstGeom prst="roundRect">
            <a:avLst/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59936" y="5504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</a:rPr>
              <a:t>Lab 2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471416" y="549554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3"/>
                </a:solidFill>
              </a:rPr>
              <a:t>LangChain / LCEL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5477256" y="5431536"/>
            <a:ext cx="1389888" cy="438912"/>
          </a:xfrm>
          <a:prstGeom prst="roundRect">
            <a:avLst/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41264" y="5504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</a:rPr>
              <a:t>Lab 3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952744" y="549554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3"/>
                </a:solidFill>
              </a:rPr>
              <a:t>Structured output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6958584" y="5431536"/>
            <a:ext cx="1389888" cy="438912"/>
          </a:xfrm>
          <a:prstGeom prst="roundRect">
            <a:avLst/>
          </a:prstGeom>
          <a:solidFill>
            <a:srgbClr val="E8F7E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22592" y="5504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</a:rPr>
              <a:t>Lab 4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434072" y="549554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3"/>
                </a:solidFill>
              </a:rPr>
              <a:t>RAG + hybrid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8439912" y="5431536"/>
            <a:ext cx="1389888" cy="438912"/>
          </a:xfrm>
          <a:prstGeom prst="roundRect">
            <a:avLst/>
          </a:prstGeom>
          <a:solidFill>
            <a:srgbClr val="E8F7E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03920" y="5504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</a:rPr>
              <a:t>Lab 5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915400" y="549554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3"/>
                </a:solidFill>
              </a:rPr>
              <a:t>MultiQuery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9921240" y="5431536"/>
            <a:ext cx="1389888" cy="438912"/>
          </a:xfrm>
          <a:prstGeom prst="roundRect">
            <a:avLst/>
          </a:prstGeom>
          <a:solidFill>
            <a:srgbClr val="E8F7E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985248" y="5504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</a:rPr>
              <a:t>Lab 6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396728" y="549554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3"/>
                </a:solidFill>
              </a:rPr>
              <a:t>LangGraph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" cy="347472"/>
          </a:xfrm>
          <a:prstGeom prst="ellipse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60120" y="320040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66760" y="3931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</a:rPr>
              <a:t>Evaluation, class mapping &amp; AI disclosure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51560"/>
            <a:ext cx="36576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3175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298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How the six class labs are implemented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1810512"/>
            <a:ext cx="310896" cy="310896"/>
          </a:xfrm>
          <a:prstGeom prst="ellipse">
            <a:avLst/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6537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801368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LLM parameters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801368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B6573"/>
                </a:solidFill>
              </a:rPr>
              <a:t>Low-temperature factual generation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41248" y="2377440"/>
            <a:ext cx="310896" cy="310896"/>
          </a:xfrm>
          <a:prstGeom prst="ellipse">
            <a:avLst/>
          </a:prstGeom>
          <a:solidFill>
            <a:srgbClr val="E8F7E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323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98448" y="236829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LangChain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368296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B6573"/>
                </a:solidFill>
              </a:rPr>
              <a:t>ChatPromptTemplate + LCEL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41248" y="2944368"/>
            <a:ext cx="310896" cy="310896"/>
          </a:xfrm>
          <a:prstGeom prst="ellipse">
            <a:avLst/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9992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98448" y="2935224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Structured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935224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B6573"/>
                </a:solidFill>
              </a:rPr>
              <a:t>Pydantic response schema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41248" y="3511296"/>
            <a:ext cx="310896" cy="310896"/>
          </a:xfrm>
          <a:prstGeom prst="ellipse">
            <a:avLst/>
          </a:prstGeom>
          <a:solidFill>
            <a:srgbClr val="E8F7E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56616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98448" y="3502152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RAG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502152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B6573"/>
                </a:solidFill>
              </a:rPr>
              <a:t>split → embed → Chroma → retriever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841248" y="4078224"/>
            <a:ext cx="310896" cy="310896"/>
          </a:xfrm>
          <a:prstGeom prst="ellipse">
            <a:avLst/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33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</a:rPr>
              <a:t>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98448" y="4069080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Advanced RAG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4069080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B6573"/>
                </a:solidFill>
              </a:rPr>
              <a:t>MultiQuery experiment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41248" y="4645152"/>
            <a:ext cx="310896" cy="310896"/>
          </a:xfrm>
          <a:prstGeom prst="ellipse">
            <a:avLst/>
          </a:prstGeom>
          <a:solidFill>
            <a:srgbClr val="E8F7E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70001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</a:rPr>
              <a:t>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98448" y="4636008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LangGraph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4636008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B6573"/>
                </a:solidFill>
              </a:rPr>
              <a:t>retrieve → generate workflow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453128" y="1051560"/>
            <a:ext cx="3246120" cy="4526280"/>
          </a:xfrm>
          <a:prstGeom prst="roundRect">
            <a:avLst/>
          </a:prstGeom>
          <a:solidFill>
            <a:srgbClr val="F1F6FC"/>
          </a:solidFill>
          <a:ln w="10160">
            <a:solidFill>
              <a:srgbClr val="D8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298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Evaluation plan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09160" y="1783080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FEB"/>
                </a:solidFill>
              </a:rPr>
              <a:t>38 manually prepared questions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782312" y="212140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B6573"/>
                </a:solidFill>
              </a:rPr>
              <a:t>spanning all 12 airlines + regulator scenarios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4736592" y="2633472"/>
            <a:ext cx="26974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01184" y="2770632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Airline hit rate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01184" y="3099816"/>
            <a:ext cx="2368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Did retrieval return the correct airline?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36592" y="3529584"/>
            <a:ext cx="26974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01184" y="366674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Category hit rate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01184" y="3995928"/>
            <a:ext cx="2368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Did it retrieve baggage/refund/etc. correctly?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36592" y="4425696"/>
            <a:ext cx="26974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01184" y="456285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Controlled failure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01184" y="4892040"/>
            <a:ext cx="2368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Unsupported questions should flag an information gap.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27848" y="1051560"/>
            <a:ext cx="3694176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3175" dir="27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193024" y="12984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AI usage disclosure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193024" y="1755648"/>
            <a:ext cx="313639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AI tools were used as a helper for planning, debugging, documentation and adapting the project. The implementation is intentionally based on the instructor's Labs 1-6, with project-specific changes for airline metadata, official-source loading, evaluation and presentation.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193024" y="3364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11312" y="3703320"/>
            <a:ext cx="3054096" cy="1216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2733"/>
                </a:solidFill>
              </a:rPr>
              <a:t>• Policy pages can change over time.
</a:t>
            </a:r>
            <a:pPr indent="0" marL="0">
              <a:buNone/>
            </a:pPr>
            <a:r>
              <a:rPr lang="en-US" sz="970" dirty="0">
                <a:solidFill>
                  <a:srgbClr val="1D2733"/>
                </a:solidFill>
              </a:rPr>
              <a:t>• Some official pages may block automated loading.
</a:t>
            </a:r>
            <a:pPr indent="0" marL="0">
              <a:buNone/>
            </a:pPr>
            <a:r>
              <a:rPr lang="en-US" sz="970" dirty="0">
                <a:solidFill>
                  <a:srgbClr val="1D2733"/>
                </a:solidFill>
              </a:rPr>
              <a:t>• Answers depend on the documents successfully loaded.
</a:t>
            </a:r>
            <a:pPr indent="0" marL="0">
              <a:buNone/>
            </a:pPr>
            <a:r>
              <a:rPr lang="en-US" sz="970" dirty="0">
                <a:solidFill>
                  <a:srgbClr val="1D2733"/>
                </a:solidFill>
              </a:rPr>
              <a:t>• FlightWise is an information assistant, not legal advice.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786384" y="5797296"/>
            <a:ext cx="10625328" cy="438912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5925312"/>
            <a:ext cx="10369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Aishwarya Nevrekar - 27PGAI0028   •   Deepanshi Bansal - 27PGAI0110   •   Kushagra Gupta - 27PGAI0115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Jio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FlightWise - Evidence-Grounded Airline Policy RAG</dc:title>
  <dc:subject>Generative AI Assignment 3 - FlightWise</dc:subject>
  <dc:creator>Aishwarya Nevrekar, Deepanshi Bansal, Kushagra Gupta</dc:creator>
  <cp:lastModifiedBy>Aishwarya Nevrekar, Deepanshi Bansal, Kushagra Gupta</cp:lastModifiedBy>
  <cp:revision>1</cp:revision>
  <dcterms:created xsi:type="dcterms:W3CDTF">2026-09-21T12:47:56Z</dcterms:created>
  <dcterms:modified xsi:type="dcterms:W3CDTF">2026-09-21T12:47:56Z</dcterms:modified>
</cp:coreProperties>
</file>